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38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LENS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1485305"/>
            <a:ext cx="822860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Moving Nexus Beyond Last-Click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151559"/>
            <a:ext cx="702590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i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₹100 Crore Reallocation Strategy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29075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Multi-touch attribution audit across 5 channels, 10 brands, 98,048 journeys.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422551"/>
            <a:ext cx="2575357" cy="1581448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617912"/>
            <a:ext cx="218464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98,048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856832" y="4203799"/>
            <a:ext cx="21846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journeys analyzed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25839" y="3422551"/>
            <a:ext cx="2575456" cy="1581448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195" y="3617912"/>
            <a:ext cx="218474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5,498</a:t>
            </a:r>
            <a:endParaRPr lang="en-US" sz="2950" dirty="0"/>
          </a:p>
        </p:txBody>
      </p:sp>
      <p:sp>
        <p:nvSpPr>
          <p:cNvPr id="11" name="Text 9"/>
          <p:cNvSpPr/>
          <p:nvPr/>
        </p:nvSpPr>
        <p:spPr>
          <a:xfrm>
            <a:off x="3621195" y="4203799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422551"/>
            <a:ext cx="2575456" cy="1581448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617912"/>
            <a:ext cx="218474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2950" dirty="0"/>
          </a:p>
        </p:txBody>
      </p:sp>
      <p:sp>
        <p:nvSpPr>
          <p:cNvPr id="14" name="Text 12"/>
          <p:cNvSpPr/>
          <p:nvPr/>
        </p:nvSpPr>
        <p:spPr>
          <a:xfrm>
            <a:off x="6385658" y="4203799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954764" y="3422551"/>
            <a:ext cx="2575456" cy="1581448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0121" y="3617912"/>
            <a:ext cx="218474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₹100 Cr</a:t>
            </a:r>
            <a:endParaRPr lang="en-US" sz="2950" dirty="0"/>
          </a:p>
        </p:txBody>
      </p:sp>
      <p:sp>
        <p:nvSpPr>
          <p:cNvPr id="17" name="Text 15"/>
          <p:cNvSpPr/>
          <p:nvPr/>
        </p:nvSpPr>
        <p:spPr>
          <a:xfrm>
            <a:off x="9150121" y="4203799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under review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216624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 Strategy Memo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— Mohit (230104062) | Shimpi (230107066) | Rushi Prasad (230103024)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258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THE PROBLEM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1484015"/>
            <a:ext cx="10031658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Last-click has been misallocating credit for months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2399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channel stories show where the legacy model breaks down — and where it happens to be accurate.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55007"/>
            <a:ext cx="3496877" cy="2765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96941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378101"/>
            <a:ext cx="2966467" cy="1927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Undercounted by more than half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9.11% last-click vs 19.95% true credit. A real top-of-funnel primer, invisible to the legacy model.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755007"/>
            <a:ext cx="3496877" cy="27654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296941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378101"/>
            <a:ext cx="29664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Overpaid on credit it didn't earn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18.62% last-click vs 11.73% true credit. Closes journeys it didn't open.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755007"/>
            <a:ext cx="3496877" cy="27654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296941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Search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378101"/>
            <a:ext cx="2966467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Roughly accurate — the exception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48.40% last-click vs 50.48% true credit. The one channel last-click happens to get right.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1890" y="573305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9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448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1475" y="1231106"/>
            <a:ext cx="6730137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 models, one disclosed limitation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475" y="1885950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155924"/>
            <a:ext cx="35207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279055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the logs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636540"/>
            <a:ext cx="3520788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566,510 raw events audited. We removed 1,952 bot users using an IQR×4 volume test, cross-checked against three other signals.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5354" y="1885950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5354" y="2155924"/>
            <a:ext cx="35208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335354" y="2279055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two models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35354" y="2636540"/>
            <a:ext cx="3520888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ran Markov Chain (removal effect) and Shapley Value on 98,048 clean journeys and 5,498 conversions, both overall and by brand.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9332" y="1885950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9332" y="2155924"/>
            <a:ext cx="352088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8009332" y="2279055"/>
            <a:ext cx="22936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Disclose the limitation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09332" y="2636540"/>
            <a:ext cx="352088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Markov collapses to 100%/0% splits on sparse brands; Shapley does not. Shapley is the primary metric throughout this memo.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013002"/>
            <a:ext cx="10868745" cy="6350"/>
          </a:xfrm>
          <a:prstGeom prst="roundRect">
            <a:avLst>
              <a:gd name="adj" fmla="val 179996"/>
            </a:avLst>
          </a:prstGeom>
          <a:solidFill>
            <a:srgbClr val="FFFFFF">
              <a:alpha val="50000"/>
            </a:srgbClr>
          </a:solidFill>
          <a:ln w="6350">
            <a:solidFill>
              <a:srgbClr val="DFDFE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234061"/>
            <a:ext cx="5357778" cy="15113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26779" y="4423172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26779" y="4780657"/>
            <a:ext cx="490336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10 brands showed Markov/Shapley divergence above 30 points, including B02 (Google Search: 100% Markov vs 46% Shapley).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4234061"/>
            <a:ext cx="5357877" cy="151139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37648" y="4423172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6437648" y="4780657"/>
            <a:ext cx="490346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gap is a sample-size artifact, not a channel insight. It shows why the analysis relies on Shapley for the final attribution story.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1890" y="5917704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9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49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CHANNEL ROLES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1336377"/>
            <a:ext cx="922433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Primers vs. closers: channel roles in the funnel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281337"/>
            <a:ext cx="344478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2824758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last-touch share — where journeys end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39802"/>
            <a:ext cx="2507394" cy="1517948"/>
          </a:xfrm>
          <a:prstGeom prst="roundRect">
            <a:avLst>
              <a:gd name="adj" fmla="val 5230"/>
            </a:avLst>
          </a:prstGeom>
          <a:solidFill>
            <a:srgbClr val="1E2761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355421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Search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5881" y="4038501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48.4%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purchases logged here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57875" y="3339802"/>
            <a:ext cx="2507394" cy="1517948"/>
          </a:xfrm>
          <a:prstGeom prst="roundRect">
            <a:avLst>
              <a:gd name="adj" fmla="val 5230"/>
            </a:avLst>
          </a:prstGeom>
          <a:solidFill>
            <a:srgbClr val="1E2761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2282" y="355421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572282" y="4038501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18.6%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purchases logged here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2281337"/>
            <a:ext cx="344478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32776" y="282475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Shapley credit relative to last-touch — where journeys start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2776" y="3642221"/>
            <a:ext cx="2507394" cy="1813223"/>
          </a:xfrm>
          <a:prstGeom prst="roundRect">
            <a:avLst>
              <a:gd name="adj" fmla="val 4378"/>
            </a:avLst>
          </a:prstGeom>
          <a:solidFill>
            <a:srgbClr val="1E2761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82" y="3856633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547182" y="4340920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19.95%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true credit vs 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9.1%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last-touch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29176" y="3642221"/>
            <a:ext cx="2507394" cy="1813223"/>
          </a:xfrm>
          <a:prstGeom prst="roundRect">
            <a:avLst>
              <a:gd name="adj" fmla="val 4378"/>
            </a:avLst>
          </a:prstGeom>
          <a:solidFill>
            <a:srgbClr val="1E2761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3583" y="3856633"/>
            <a:ext cx="20785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Instagram / YouTube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243583" y="463619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 early, rarely close the sale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890" y="58806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9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474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PER-BRAND 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475" y="1086644"/>
            <a:ext cx="32597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size doesn't fit all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63550" y="1574998"/>
            <a:ext cx="7064595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327914" y="2101652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 10 brands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341463"/>
            <a:ext cx="1086874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diverge from the portfolio average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259338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global media plan built on the aggregate Shapley split would misallocate budget for the majority of Nexus's brand portfolio.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2845296"/>
            <a:ext cx="10868745" cy="2987873"/>
          </a:xfrm>
          <a:prstGeom prst="roundRect">
            <a:avLst>
              <a:gd name="adj" fmla="val 172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825" y="2851646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0853" y="290582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07990" y="290582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Channel (Shapley)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21951" y="290582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Credit Share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35913" y="290582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vs. Portfolio Top (Google Search)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825" y="3122116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0853" y="317629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7990" y="317629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Instagram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21951" y="317629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77.7%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35913" y="317629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825" y="3392587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0853" y="344676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7990" y="344676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1951" y="344676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46.1%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35913" y="344676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portfolio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825" y="3663057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90853" y="371723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07990" y="371723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1951" y="3717230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29.9%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35913" y="3717230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825" y="3933527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90853" y="398770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07990" y="398770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21951" y="398770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935913" y="398770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825" y="4203998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90853" y="425817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07990" y="425817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21951" y="425817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35913" y="425817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825" y="4474468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90853" y="452864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07990" y="452864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Influencer Blog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21951" y="4528641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29.1%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35913" y="4528641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7825" y="4744938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90853" y="479911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07990" y="479911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21951" y="479911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935913" y="479911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portfolio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7825" y="5015409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90853" y="506958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B08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507990" y="506958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21951" y="506958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935913" y="506958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portfolio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825" y="5285879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90853" y="534005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B09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507990" y="534005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21951" y="5340052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935913" y="5340052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7825" y="5556349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90853" y="5610523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507990" y="5610523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21951" y="5610523"/>
            <a:ext cx="307153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30.1%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935913" y="5610523"/>
            <a:ext cx="30747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1890" y="5922963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478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COST-EFFICIENCY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1475" y="1119485"/>
            <a:ext cx="421202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true cost league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1516360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₹1,687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2118816"/>
            <a:ext cx="10868745" cy="83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between the cheapest and most expensive channel CPA in this dataset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(₹4 vs ₹1,691, both within Brand 01/02)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share (Shapley %) and cost-per-acquisition are different things. This is where the real waste hides.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72805"/>
            <a:ext cx="5381193" cy="2231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8403" y="3233539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 &amp; Credited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98403" y="3518694"/>
            <a:ext cx="19050" cy="1624905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</p:sp>
      <p:sp>
        <p:nvSpPr>
          <p:cNvPr id="9" name="Shape 6"/>
          <p:cNvSpPr/>
          <p:nvPr/>
        </p:nvSpPr>
        <p:spPr>
          <a:xfrm>
            <a:off x="1111024" y="3638252"/>
            <a:ext cx="4770913" cy="1385887"/>
          </a:xfrm>
          <a:prstGeom prst="roundRect">
            <a:avLst>
              <a:gd name="adj" fmla="val 429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59253" y="3714651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/ Channel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33508" y="3714651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CPA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75388" y="3714651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59253" y="4059535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B07 — Google Search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33508" y="4059535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75388" y="4059535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59253" y="4404420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 — Instagram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33508" y="4404420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75388" y="4404420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77.7%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59253" y="4749304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 — Influencer Blog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733508" y="4749304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75388" y="4749304"/>
            <a:ext cx="8585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928" y="3072805"/>
            <a:ext cx="5381292" cy="223162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85857" y="3233539"/>
            <a:ext cx="22264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Expensive &amp; Overcredited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385857" y="3518694"/>
            <a:ext cx="19050" cy="1624905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</p:sp>
      <p:sp>
        <p:nvSpPr>
          <p:cNvPr id="25" name="Shape 21"/>
          <p:cNvSpPr/>
          <p:nvPr/>
        </p:nvSpPr>
        <p:spPr>
          <a:xfrm>
            <a:off x="6598477" y="3638252"/>
            <a:ext cx="4771013" cy="1385887"/>
          </a:xfrm>
          <a:prstGeom prst="roundRect">
            <a:avLst>
              <a:gd name="adj" fmla="val 429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46607" y="3714651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/ Channel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220862" y="3714651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CPA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362842" y="3714651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Credit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746607" y="4059535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 — Marketplace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220862" y="4059535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₹1,691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362842" y="4059535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746607" y="4404420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 — Google Search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220862" y="4404420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₹651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362842" y="4404420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746607" y="4749304"/>
            <a:ext cx="21908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B10 — Google Search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9220862" y="4749304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₹576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362842" y="4749304"/>
            <a:ext cx="8586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8.8%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61475" y="5423991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and credit are two different lenses.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channel can hold real Shapley credit and still be wildly inefficient — the cost lens is what turns attribution into a defund decision.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1890" y="5940425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569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RECOMMENDATIONS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475" y="1067594"/>
            <a:ext cx="535529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Which campaigns should be defunded?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61475" y="1494532"/>
            <a:ext cx="3569702" cy="1028005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654" y="1623715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654" y="1863527"/>
            <a:ext cx="331134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 channels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310947" y="1494532"/>
            <a:ext cx="3569702" cy="1028005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0126" y="1623715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 Cap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0126" y="1863527"/>
            <a:ext cx="331134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channels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7960419" y="1494532"/>
            <a:ext cx="3569801" cy="1028005"/>
          </a:xfrm>
          <a:prstGeom prst="roundRect">
            <a:avLst>
              <a:gd name="adj" fmla="val 50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9598" y="1623715"/>
            <a:ext cx="15357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89598" y="1863527"/>
            <a:ext cx="3311442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channels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61475" y="2612330"/>
            <a:ext cx="10868745" cy="2987873"/>
          </a:xfrm>
          <a:prstGeom prst="roundRect">
            <a:avLst>
              <a:gd name="adj" fmla="val 172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825" y="2618680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0952" y="2672854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65277" y="267285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36426" y="267285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CPA vs. Brand Cheapest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07576" y="267285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Shapley 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78725" y="2672854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825" y="2889151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90952" y="2943324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65277" y="294332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36426" y="294332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338x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07576" y="2943324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478725" y="2943324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825" y="3159621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90952" y="321379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65277" y="321379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36426" y="321379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07576" y="321379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78725" y="321379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825" y="3430091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0952" y="348426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65277" y="348426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36426" y="348426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07576" y="348426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8.8%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78725" y="348426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825" y="3700562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90952" y="375473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65277" y="375473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36426" y="375473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123x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07576" y="375473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478725" y="375473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7825" y="3971032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90952" y="402520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965277" y="402520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36426" y="402520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14x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07576" y="4025205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13.7%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478725" y="4025205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Defund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825" y="4241502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90952" y="429567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65277" y="429567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36426" y="429567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07576" y="429567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478725" y="429567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 Cap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67825" y="4511973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90952" y="456614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965277" y="456614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136426" y="456614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07576" y="456614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1.1%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478725" y="456614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 Cap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67825" y="4782443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90952" y="483661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B08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965277" y="483661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136426" y="483661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307576" y="4836616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478725" y="4836616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 Cap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7825" y="5052913"/>
            <a:ext cx="10856046" cy="2704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790952" y="5107087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965277" y="510708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136426" y="510708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 (only channel)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307576" y="510708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478725" y="5107087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Maintain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67825" y="5323384"/>
            <a:ext cx="10856046" cy="2704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90952" y="5377557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B09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965277" y="537755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136426" y="537755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1x (only channel)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307576" y="5377557"/>
            <a:ext cx="252872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478725" y="5377557"/>
            <a:ext cx="25319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Maintain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61475" y="568999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channels flagged for defund · 5 flagged for frequency cap · across all 10 brands, full list in Appendix (cpa_final.csv)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1890" y="5941913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791"/>
            <a:ext cx="11478330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— THE REALLOCATION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1475" y="838895"/>
            <a:ext cx="344141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₹100 Crore reallocation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190625"/>
            <a:ext cx="11478330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 Cr per brand × 10 brands. Within each brand, spend is optimized for cost-efficiency under diminishing returns — not last-click, not raw Shapley share.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410196"/>
            <a:ext cx="439161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12,084 acquisitions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up from 9,620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1761927"/>
            <a:ext cx="11478330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concrete payoff of the reallocation: more acquisitions from the same total budget by shifting spend toward the most cost-efficient channels within each brand.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59372"/>
            <a:ext cx="3583692" cy="1031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0341" y="2077442"/>
            <a:ext cx="1317890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0341" y="2277368"/>
            <a:ext cx="3296758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Search → Influencer Blog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57% → 5%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</a:t>
            </a:r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(+84pp)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Blog (₹21 CPA) is doing the real work for this brand; Google Search (₹348 CPA) was absorbing the budget.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902" y="1959372"/>
            <a:ext cx="3583791" cy="10319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2769" y="2077442"/>
            <a:ext cx="1317890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01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472769" y="2277368"/>
            <a:ext cx="3296857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 → Instagram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47% → 92%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</a:t>
            </a:r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(+83pp)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costs ₹1,691 per acquisition for this brand; Instagram costs ₹5. This is the most expensive channel in the entire dataset.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6429" y="1959372"/>
            <a:ext cx="3583791" cy="10319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5295" y="2077442"/>
            <a:ext cx="1317890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 05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8115295" y="2277368"/>
            <a:ext cx="3296857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Search → Influencer Blog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44% → 75%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</a:t>
            </a:r>
            <a:pPr algn="l" indent="0" marL="0">
              <a:lnSpc>
                <a:spcPct val="104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(+71pp)</a:t>
            </a:r>
            <a:endParaRPr lang="en-US" sz="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brand, redirected to a channel costing ₹4 per acquisition vs ₹31 — the single largest efficiency gain in the portfolio.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61475" y="3079552"/>
            <a:ext cx="431481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₹10 Cr allocation by brand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61475" y="3431282"/>
            <a:ext cx="10868745" cy="2435820"/>
          </a:xfrm>
          <a:prstGeom prst="roundRect">
            <a:avLst>
              <a:gd name="adj" fmla="val 181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73589" y="3479205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Brand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293384" y="3479205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Top Channel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681619" y="3479205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Top Channel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7069854" y="3479205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Allocation (₹ Cr)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9349546" y="3479205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Acquisitions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73589" y="3700066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01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293384" y="3700066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681619" y="3700066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7069854" y="3700066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9349546" y="3700066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1,420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73589" y="3920927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02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2293384" y="3920927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681619" y="3920927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Blog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069854" y="3920927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9349546" y="3920927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1,280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73589" y="4141788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03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293384" y="4141788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681619" y="4141788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069854" y="4141788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9349546" y="4141788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1,180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773589" y="4362648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04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293384" y="4362648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681619" y="4362648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Blog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7069854" y="4362648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9349546" y="4362648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1,060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773589" y="4583509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05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2293384" y="4583509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4681619" y="4583509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Blog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7069854" y="4583509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9349546" y="4583509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1,350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773589" y="4804370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06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2293384" y="4804370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4681619" y="4804370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7069854" y="4804370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9349546" y="4804370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1,110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773589" y="5025231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07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2293384" y="5025231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4681619" y="5025231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7069854" y="5025231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9349546" y="5025231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1,020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773589" y="5246092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08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2293384" y="5246092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4681619" y="5246092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7069854" y="5246092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9349546" y="5246092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1,060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773589" y="5466953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09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2293384" y="5466953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4681619" y="5466953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7069854" y="5466953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9349546" y="5466953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830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773589" y="5687814"/>
            <a:ext cx="191864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10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2293384" y="5687814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4681619" y="5687814"/>
            <a:ext cx="2787084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800" dirty="0"/>
          </a:p>
        </p:txBody>
      </p:sp>
      <p:sp>
        <p:nvSpPr>
          <p:cNvPr id="71" name="Text 66"/>
          <p:cNvSpPr/>
          <p:nvPr/>
        </p:nvSpPr>
        <p:spPr>
          <a:xfrm>
            <a:off x="7069854" y="5687814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800" dirty="0"/>
          </a:p>
        </p:txBody>
      </p:sp>
      <p:sp>
        <p:nvSpPr>
          <p:cNvPr id="72" name="Text 67"/>
          <p:cNvSpPr/>
          <p:nvPr/>
        </p:nvSpPr>
        <p:spPr>
          <a:xfrm>
            <a:off x="9349546" y="5687814"/>
            <a:ext cx="2678542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1,764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661475" y="5933182"/>
            <a:ext cx="11478330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10 brands allocated ₹10 Cr each, with spend shifted to the highest-efficiency channel mix under diminishing returns.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51890" y="6130627"/>
            <a:ext cx="11478330" cy="13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5211"/>
            <a:ext cx="11478330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1475" y="1090315"/>
            <a:ext cx="5929660" cy="389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Risk, caveats &amp; the monitoring plan</a:t>
            </a:r>
            <a:endParaRPr lang="en-US" sz="2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71538"/>
            <a:ext cx="3537457" cy="25623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2294" y="1846163"/>
            <a:ext cx="194553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Markov instability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2294" y="2166243"/>
            <a:ext cx="3112017" cy="189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Caveat:</a:t>
            </a:r>
            <a:pPr algn="l"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of 10 brands show &gt;30pp Markov/Shapley divergence. We've used Shapley throughout for this reason — flagged again here for full transparency with the board.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Implication: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attribution model can materially change which channels appear to deserve spend.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7020" y="1671538"/>
            <a:ext cx="3537556" cy="25623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7839" y="1846163"/>
            <a:ext cx="3069950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Diminishing-returns assumption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7839" y="2166243"/>
            <a:ext cx="3112117" cy="189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Caveat:</a:t>
            </a:r>
            <a:pPr algn="l"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Reallocation assumes acquisitions scale with √spend (ad fatigue). This is a modeling choice, not a measured curve — re-validate against real response data after the shift.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Implication: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Expected gains may soften if the true response curve is steeper or flatter than assumed.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2664" y="1671538"/>
            <a:ext cx="3537556" cy="25623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3483" y="1846163"/>
            <a:ext cx="2074910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Efficiency will change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43483" y="2166243"/>
            <a:ext cx="3112117" cy="189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Caveat:</a:t>
            </a:r>
            <a:pPr algn="l"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Once budget moves, the channels gaining spend (e.g. Instagram, Influencer Blog) will face new audience saturation. Today's CPA is not tomorrow's CPA.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Implication: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Channel efficiency will drift as allocation changes, so the plan must be actively monitored.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61475" y="4378027"/>
            <a:ext cx="10868745" cy="1488777"/>
          </a:xfrm>
          <a:prstGeom prst="roundRect">
            <a:avLst>
              <a:gd name="adj" fmla="val 4391"/>
            </a:avLst>
          </a:prstGeom>
          <a:solidFill>
            <a:srgbClr val="183A1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46" y="4565352"/>
            <a:ext cx="243179" cy="194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5796" y="4545013"/>
            <a:ext cx="567626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Recommendation: a 90-day re-attribution checkpoint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215796" y="4916289"/>
            <a:ext cx="10158853" cy="79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 this pipeline on fresh touchpoint data 90 days after the new allocation goes live, before committing to the next ₹100 Cr cycle.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memo is a snapshot, not a permanent prescription.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CPA shifts as spend shifts, so the allocation should be validated against real performance.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1890" y="6010970"/>
            <a:ext cx="11478330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2026-06-24T11:59:08Z</dcterms:created>
  <dcterms:modified xsi:type="dcterms:W3CDTF">2026-06-24T11:59:08Z</dcterms:modified>
</cp:coreProperties>
</file>